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0" d="100"/>
          <a:sy n="40" d="100"/>
        </p:scale>
        <p:origin x="48" y="6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6/12/2026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a:t>Hands-on Neo4j:</a:t>
            </a:r>
            <a:br>
              <a:rPr lang="en-US" sz="4800" dirty="0"/>
            </a:br>
            <a:r>
              <a:rPr lang="en-US" sz="4800" dirty="0"/>
              <a:t>US Road Network Analysis</a:t>
            </a:r>
          </a:p>
        </p:txBody>
      </p:sp>
      <p:sp>
        <p:nvSpPr>
          <p:cNvPr id="3" name="Subtitle 2"/>
          <p:cNvSpPr>
            <a:spLocks noGrp="1"/>
          </p:cNvSpPr>
          <p:nvPr>
            <p:ph type="subTitle" idx="1"/>
          </p:nvPr>
        </p:nvSpPr>
        <p:spPr/>
        <p:txBody>
          <a:bodyPr>
            <a:normAutofit fontScale="70000" lnSpcReduction="20000"/>
          </a:bodyPr>
          <a:lstStyle/>
          <a:p>
            <a:r>
              <a:rPr lang="en-US" sz="2400" dirty="0"/>
              <a:t>MSDA9215: Big Data </a:t>
            </a:r>
            <a:r>
              <a:rPr lang="en-US" sz="2400" dirty="0" smtClean="0"/>
              <a:t>Analytics</a:t>
            </a:r>
          </a:p>
          <a:p>
            <a:r>
              <a:rPr lang="en-US" sz="2400" dirty="0"/>
              <a:t>Lecturer: </a:t>
            </a:r>
            <a:r>
              <a:rPr lang="en-US" sz="2400" dirty="0" err="1"/>
              <a:t>Temitope</a:t>
            </a:r>
            <a:r>
              <a:rPr lang="en-US" sz="2400" dirty="0"/>
              <a:t> </a:t>
            </a:r>
            <a:r>
              <a:rPr lang="en-US" sz="2400" dirty="0" err="1" smtClean="0"/>
              <a:t>Oguntade</a:t>
            </a:r>
            <a:endParaRPr lang="en-US" sz="2400" dirty="0" smtClean="0"/>
          </a:p>
          <a:p>
            <a:r>
              <a:rPr lang="en-US" sz="2400" dirty="0" smtClean="0"/>
              <a:t>AUCA</a:t>
            </a:r>
          </a:p>
          <a:p>
            <a:r>
              <a:rPr lang="en-US" sz="2400" dirty="0" smtClean="0"/>
              <a:t>June, 2026</a:t>
            </a:r>
            <a:endParaRPr lang="en-US" sz="2400" dirty="0"/>
          </a:p>
        </p:txBody>
      </p:sp>
    </p:spTree>
    <p:extLst>
      <p:ext uri="{BB962C8B-B14F-4D97-AF65-F5344CB8AC3E}">
        <p14:creationId xmlns:p14="http://schemas.microsoft.com/office/powerpoint/2010/main" val="465118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Members</a:t>
            </a:r>
            <a:endParaRPr lang="en-US" dirty="0"/>
          </a:p>
        </p:txBody>
      </p:sp>
      <p:sp>
        <p:nvSpPr>
          <p:cNvPr id="3" name="Content Placeholder 2"/>
          <p:cNvSpPr>
            <a:spLocks noGrp="1"/>
          </p:cNvSpPr>
          <p:nvPr>
            <p:ph idx="1"/>
          </p:nvPr>
        </p:nvSpPr>
        <p:spPr/>
        <p:txBody>
          <a:bodyPr>
            <a:noAutofit/>
          </a:bodyPr>
          <a:lstStyle/>
          <a:p>
            <a:r>
              <a:rPr lang="en-US" sz="4000" dirty="0" smtClean="0"/>
              <a:t>SHYAKA </a:t>
            </a:r>
            <a:r>
              <a:rPr lang="en-US" sz="4000" dirty="0"/>
              <a:t>Ivan </a:t>
            </a:r>
            <a:r>
              <a:rPr lang="en-US" sz="4000" dirty="0" smtClean="0"/>
              <a:t>101229</a:t>
            </a:r>
          </a:p>
          <a:p>
            <a:r>
              <a:rPr lang="en-US" sz="4000" dirty="0" err="1"/>
              <a:t>Rwego</a:t>
            </a:r>
            <a:r>
              <a:rPr lang="en-US" sz="4000" dirty="0"/>
              <a:t> Marie </a:t>
            </a:r>
            <a:r>
              <a:rPr lang="en-US" sz="4000" dirty="0" err="1"/>
              <a:t>Vaillainte</a:t>
            </a:r>
            <a:r>
              <a:rPr lang="en-US" sz="4000" dirty="0"/>
              <a:t> </a:t>
            </a:r>
            <a:r>
              <a:rPr lang="en-US" sz="4000" dirty="0" smtClean="0"/>
              <a:t>101225</a:t>
            </a:r>
          </a:p>
          <a:p>
            <a:r>
              <a:rPr lang="en-US" sz="4000" dirty="0" err="1"/>
              <a:t>Tumukunde</a:t>
            </a:r>
            <a:r>
              <a:rPr lang="en-US" sz="4000" dirty="0"/>
              <a:t> Sandra 101483</a:t>
            </a:r>
            <a:br>
              <a:rPr lang="en-US" sz="4000" dirty="0"/>
            </a:br>
            <a:r>
              <a:rPr lang="en-US" sz="4000" dirty="0"/>
              <a:t/>
            </a:r>
            <a:br>
              <a:rPr lang="en-US" sz="4000" dirty="0"/>
            </a:br>
            <a:r>
              <a:rPr lang="en-US" sz="4000" dirty="0"/>
              <a:t/>
            </a:r>
            <a:br>
              <a:rPr lang="en-US" sz="4000" dirty="0"/>
            </a:br>
            <a:endParaRPr lang="en-US" sz="4000" dirty="0"/>
          </a:p>
        </p:txBody>
      </p:sp>
    </p:spTree>
    <p:extLst>
      <p:ext uri="{BB962C8B-B14F-4D97-AF65-F5344CB8AC3E}">
        <p14:creationId xmlns:p14="http://schemas.microsoft.com/office/powerpoint/2010/main" val="3947152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This project is about applying the Neo4j database hands-on using a US road network scenario characterizing a graph database network where nodes are represented by road intersections and </a:t>
            </a:r>
            <a:r>
              <a:rPr lang="en-US" dirty="0"/>
              <a:t>edges </a:t>
            </a:r>
            <a:r>
              <a:rPr lang="en-US" dirty="0" smtClean="0"/>
              <a:t>represented </a:t>
            </a:r>
            <a:r>
              <a:rPr lang="en-US" dirty="0"/>
              <a:t>by the roads connecting those intersections. </a:t>
            </a:r>
            <a:r>
              <a:rPr lang="en-US" dirty="0" smtClean="0"/>
              <a:t>A graph database was identified as the most suitable database type for this road network analysis due to the high dependency of relationships between intersections through identifying paths across </a:t>
            </a:r>
            <a:r>
              <a:rPr lang="en-US" dirty="0"/>
              <a:t>87,575 nodes </a:t>
            </a:r>
            <a:r>
              <a:rPr lang="en-US" dirty="0" smtClean="0"/>
              <a:t>and 121,961 </a:t>
            </a:r>
            <a:r>
              <a:rPr lang="en-US" dirty="0"/>
              <a:t>roads </a:t>
            </a:r>
            <a:r>
              <a:rPr lang="en-US" dirty="0" smtClean="0"/>
              <a:t>in addition to the fact that relational databases requires several Join operations which can be time and memory consuming while Neo4j traverses connections natively. This report covers the analysis performed to identify several metrics like shortest path, high degree intersections, centrality of intersections</a:t>
            </a:r>
            <a:r>
              <a:rPr lang="en-US" dirty="0"/>
              <a:t>, dashboard, and visualizations. </a:t>
            </a:r>
            <a:endParaRPr lang="en-US" dirty="0" smtClean="0"/>
          </a:p>
          <a:p>
            <a:pPr marL="0" indent="0">
              <a:buNone/>
            </a:pPr>
            <a:r>
              <a:rPr lang="en-US" dirty="0" smtClean="0"/>
              <a:t>The </a:t>
            </a:r>
            <a:r>
              <a:rPr lang="en-US" dirty="0"/>
              <a:t>analysis was conducted using Neo4j Community Edition 5.26.0 as the graph database engine, Python with the </a:t>
            </a:r>
            <a:r>
              <a:rPr lang="en-US" dirty="0" err="1"/>
              <a:t>NetworkX</a:t>
            </a:r>
            <a:r>
              <a:rPr lang="en-US" dirty="0"/>
              <a:t> library for algorithmic computation, and </a:t>
            </a:r>
            <a:r>
              <a:rPr lang="en-US" dirty="0" err="1"/>
              <a:t>Plotly</a:t>
            </a:r>
            <a:r>
              <a:rPr lang="en-US" dirty="0"/>
              <a:t> for interactive dashboard visualizations.</a:t>
            </a:r>
          </a:p>
        </p:txBody>
      </p:sp>
    </p:spTree>
    <p:extLst>
      <p:ext uri="{BB962C8B-B14F-4D97-AF65-F5344CB8AC3E}">
        <p14:creationId xmlns:p14="http://schemas.microsoft.com/office/powerpoint/2010/main" val="1412812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Dataset Description</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The dataset represented the United States (US) road network through a geometric graph with vertices representing road intersections on the map and edges represented by roads between these points/intersections. </a:t>
            </a:r>
            <a:r>
              <a:rPr lang="en-US" dirty="0"/>
              <a:t>The data was presented by an identification(id), x-coordinates and their y-coordinates and their edge entries without distance values that had to be calculated from the provided coordinates through the Euclidean distance formula. </a:t>
            </a:r>
            <a:r>
              <a:rPr lang="en-US" dirty="0" smtClean="0"/>
              <a:t>. The dataset comprise of 87,575 intersections and 121,961 roads with sparse relationship and an average degree of relationship per node of 2.8. </a:t>
            </a:r>
          </a:p>
        </p:txBody>
      </p:sp>
    </p:spTree>
    <p:extLst>
      <p:ext uri="{BB962C8B-B14F-4D97-AF65-F5344CB8AC3E}">
        <p14:creationId xmlns:p14="http://schemas.microsoft.com/office/powerpoint/2010/main" val="1602989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Environment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The analysis required the ability to store the data needed for analysis, compute the algorithms to identify the outputs of the analysis and the visualization of data. Neo4j was used as type of graph database that stores data as nodes and relationships which makes it efficient for queries to find the paths from one node to another. However the community edition does not include GDS plugin or APOC used for advanced algorithms like </a:t>
            </a:r>
            <a:r>
              <a:rPr lang="en-US" dirty="0" err="1" smtClean="0"/>
              <a:t>betweeness</a:t>
            </a:r>
            <a:r>
              <a:rPr lang="en-US" dirty="0" smtClean="0"/>
              <a:t> Centrality. Hence, the use of </a:t>
            </a:r>
            <a:r>
              <a:rPr lang="en-US" dirty="0" err="1" smtClean="0"/>
              <a:t>NetworkX</a:t>
            </a:r>
            <a:r>
              <a:rPr lang="en-US" dirty="0" smtClean="0"/>
              <a:t> instead. The algorithms were computed via VS code using python language. Using </a:t>
            </a:r>
            <a:r>
              <a:rPr lang="en-US" dirty="0" err="1" smtClean="0"/>
              <a:t>plotly</a:t>
            </a:r>
            <a:r>
              <a:rPr lang="en-US" dirty="0" smtClean="0"/>
              <a:t> we were able to create interactive visualizations and dashboard as well as pandas for data manipulation and organization.</a:t>
            </a:r>
            <a:endParaRPr lang="en-US" dirty="0"/>
          </a:p>
        </p:txBody>
      </p:sp>
    </p:spTree>
    <p:extLst>
      <p:ext uri="{BB962C8B-B14F-4D97-AF65-F5344CB8AC3E}">
        <p14:creationId xmlns:p14="http://schemas.microsoft.com/office/powerpoint/2010/main" val="2612925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Loading Process</a:t>
            </a:r>
            <a:endParaRPr lang="en-US" dirty="0"/>
          </a:p>
        </p:txBody>
      </p:sp>
      <p:sp>
        <p:nvSpPr>
          <p:cNvPr id="3" name="Content Placeholder 2"/>
          <p:cNvSpPr>
            <a:spLocks noGrp="1"/>
          </p:cNvSpPr>
          <p:nvPr>
            <p:ph idx="1"/>
          </p:nvPr>
        </p:nvSpPr>
        <p:spPr/>
        <p:txBody>
          <a:bodyPr/>
          <a:lstStyle/>
          <a:p>
            <a:pPr marL="0" indent="0">
              <a:buNone/>
            </a:pPr>
            <a:r>
              <a:rPr lang="en-US" dirty="0" smtClean="0"/>
              <a:t>Using the parsing function, we were able to open and read the usa.txt file containing the 87,575 nodes and their 121,961 edges. A unique constraint was created on the nodes to always have a </a:t>
            </a:r>
            <a:r>
              <a:rPr lang="en-US" dirty="0" err="1" smtClean="0"/>
              <a:t>node_id</a:t>
            </a:r>
            <a:r>
              <a:rPr lang="en-US" dirty="0" smtClean="0"/>
              <a:t> have to prevent duplicates while loading them in batches to speed up loading. Each edge pair was calculated  for both directions for </a:t>
            </a:r>
            <a:r>
              <a:rPr lang="en-US" dirty="0" err="1" smtClean="0"/>
              <a:t>Dijkstra</a:t>
            </a:r>
            <a:r>
              <a:rPr lang="en-US" dirty="0" smtClean="0"/>
              <a:t> to explore freely without getting stuck and a merge instead of create was used to avoid duplication of relationships</a:t>
            </a:r>
            <a:endParaRPr lang="en-US" dirty="0"/>
          </a:p>
        </p:txBody>
      </p:sp>
    </p:spTree>
    <p:extLst>
      <p:ext uri="{BB962C8B-B14F-4D97-AF65-F5344CB8AC3E}">
        <p14:creationId xmlns:p14="http://schemas.microsoft.com/office/powerpoint/2010/main" val="1171968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1: Network Overview</a:t>
            </a:r>
            <a:endParaRPr lang="en-US" dirty="0"/>
          </a:p>
        </p:txBody>
      </p:sp>
      <p:sp>
        <p:nvSpPr>
          <p:cNvPr id="3" name="Content Placeholder 2"/>
          <p:cNvSpPr>
            <a:spLocks noGrp="1"/>
          </p:cNvSpPr>
          <p:nvPr>
            <p:ph idx="1"/>
          </p:nvPr>
        </p:nvSpPr>
        <p:spPr/>
        <p:txBody>
          <a:bodyPr/>
          <a:lstStyle/>
          <a:p>
            <a:pPr marL="0" indent="0">
              <a:buNone/>
            </a:pPr>
            <a:r>
              <a:rPr lang="en-US" dirty="0" smtClean="0"/>
              <a:t>The objective of this task was to confirm if the data was loaded correctly and show the statistics of how many intersections and roads we have in our dataset. Where a count all intersection nodes and road relationships were calculated to  identify them. The results showed a total of 87,575 total intersections and 242,982 total roads which was made possible through the 2 directions expected to be stored.</a:t>
            </a:r>
          </a:p>
          <a:p>
            <a:pPr marL="0" indent="0">
              <a:buNone/>
            </a:pPr>
            <a:endParaRPr lang="en-US" dirty="0"/>
          </a:p>
        </p:txBody>
      </p:sp>
      <p:pic>
        <p:nvPicPr>
          <p:cNvPr id="5" name="Picture 4"/>
          <p:cNvPicPr>
            <a:picLocks noChangeAspect="1"/>
          </p:cNvPicPr>
          <p:nvPr/>
        </p:nvPicPr>
        <p:blipFill>
          <a:blip r:embed="rId2"/>
          <a:stretch>
            <a:fillRect/>
          </a:stretch>
        </p:blipFill>
        <p:spPr>
          <a:xfrm>
            <a:off x="4457615" y="4821714"/>
            <a:ext cx="3276768" cy="1054154"/>
          </a:xfrm>
          <a:prstGeom prst="rect">
            <a:avLst/>
          </a:prstGeom>
        </p:spPr>
      </p:pic>
    </p:spTree>
    <p:extLst>
      <p:ext uri="{BB962C8B-B14F-4D97-AF65-F5344CB8AC3E}">
        <p14:creationId xmlns:p14="http://schemas.microsoft.com/office/powerpoint/2010/main" val="1123137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2: Shortest Path</a:t>
            </a:r>
            <a:endParaRPr lang="en-US" dirty="0"/>
          </a:p>
        </p:txBody>
      </p:sp>
      <p:sp>
        <p:nvSpPr>
          <p:cNvPr id="3" name="Content Placeholder 2"/>
          <p:cNvSpPr>
            <a:spLocks noGrp="1"/>
          </p:cNvSpPr>
          <p:nvPr>
            <p:ph idx="1"/>
          </p:nvPr>
        </p:nvSpPr>
        <p:spPr/>
        <p:txBody>
          <a:bodyPr/>
          <a:lstStyle/>
          <a:p>
            <a:pPr marL="0" indent="0">
              <a:buNone/>
            </a:pPr>
            <a:r>
              <a:rPr lang="en-US" dirty="0" smtClean="0"/>
              <a:t>To find the most efficient route between two intersections, a </a:t>
            </a:r>
            <a:r>
              <a:rPr lang="en-US" dirty="0" err="1" smtClean="0"/>
              <a:t>Dijkstra</a:t>
            </a:r>
            <a:r>
              <a:rPr lang="en-US" dirty="0" smtClean="0"/>
              <a:t> algorithm was implemented via </a:t>
            </a:r>
            <a:r>
              <a:rPr lang="en-US" dirty="0" err="1" smtClean="0"/>
              <a:t>NetworkX</a:t>
            </a:r>
            <a:r>
              <a:rPr lang="en-US" dirty="0" smtClean="0"/>
              <a:t> library. This algorithm allows calculation of costs to reach the destination and identify all the costs according to the relationshi</a:t>
            </a:r>
            <a:r>
              <a:rPr lang="en-US" dirty="0"/>
              <a:t>p</a:t>
            </a:r>
            <a:r>
              <a:rPr lang="en-US" dirty="0" smtClean="0"/>
              <a:t> therefore identify the shortest path between two intersections. In the implementations we used intersection 0 as the source and intersection 50,000 as the destination which provided the result of 2,55.25 units.</a:t>
            </a:r>
          </a:p>
          <a:p>
            <a:pPr marL="0" indent="0">
              <a:buNone/>
            </a:pPr>
            <a:endParaRPr lang="en-US" dirty="0"/>
          </a:p>
        </p:txBody>
      </p:sp>
      <p:pic>
        <p:nvPicPr>
          <p:cNvPr id="4" name="Picture 3"/>
          <p:cNvPicPr>
            <a:picLocks noChangeAspect="1"/>
          </p:cNvPicPr>
          <p:nvPr/>
        </p:nvPicPr>
        <p:blipFill>
          <a:blip r:embed="rId2"/>
          <a:stretch>
            <a:fillRect/>
          </a:stretch>
        </p:blipFill>
        <p:spPr>
          <a:xfrm>
            <a:off x="4035318" y="4821607"/>
            <a:ext cx="2894871" cy="1311390"/>
          </a:xfrm>
          <a:prstGeom prst="rect">
            <a:avLst/>
          </a:prstGeom>
        </p:spPr>
      </p:pic>
    </p:spTree>
    <p:extLst>
      <p:ext uri="{BB962C8B-B14F-4D97-AF65-F5344CB8AC3E}">
        <p14:creationId xmlns:p14="http://schemas.microsoft.com/office/powerpoint/2010/main" val="236081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3: High Degree Intersections</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t>The degree is considered as the number of roads</a:t>
            </a:r>
          </a:p>
          <a:p>
            <a:pPr marL="0" indent="0">
              <a:buNone/>
            </a:pPr>
            <a:r>
              <a:rPr lang="en-US" dirty="0" smtClean="0"/>
              <a:t>connected to a single node/intersection. </a:t>
            </a:r>
          </a:p>
          <a:p>
            <a:pPr marL="0" indent="0">
              <a:buNone/>
            </a:pPr>
            <a:r>
              <a:rPr lang="en-US" dirty="0" smtClean="0"/>
              <a:t>A threshold of degree&gt;3 was chosen for</a:t>
            </a:r>
          </a:p>
          <a:p>
            <a:pPr marL="0" indent="0">
              <a:buNone/>
            </a:pPr>
            <a:r>
              <a:rPr lang="en-US" dirty="0" smtClean="0"/>
              <a:t>the network average degree is 2.8 so this </a:t>
            </a:r>
          </a:p>
          <a:p>
            <a:pPr marL="0" indent="0">
              <a:buNone/>
            </a:pPr>
            <a:r>
              <a:rPr lang="en-US" dirty="0" smtClean="0"/>
              <a:t>level of degree shows the above average</a:t>
            </a:r>
          </a:p>
          <a:p>
            <a:pPr marL="0" indent="0">
              <a:buNone/>
            </a:pPr>
            <a:r>
              <a:rPr lang="en-US" dirty="0" smtClean="0"/>
              <a:t> connections per intersection. </a:t>
            </a:r>
          </a:p>
          <a:p>
            <a:pPr marL="0" indent="0">
              <a:buNone/>
            </a:pPr>
            <a:r>
              <a:rPr lang="en-US" dirty="0" smtClean="0"/>
              <a:t>22.7% was found exceeding average degree </a:t>
            </a:r>
          </a:p>
          <a:p>
            <a:pPr marL="0" indent="0">
              <a:buNone/>
            </a:pPr>
            <a:r>
              <a:rPr lang="en-US" dirty="0" smtClean="0"/>
              <a:t>with maximum degree of 6 where</a:t>
            </a:r>
          </a:p>
          <a:p>
            <a:pPr marL="0" indent="0">
              <a:buNone/>
            </a:pPr>
            <a:r>
              <a:rPr lang="en-US" dirty="0" smtClean="0"/>
              <a:t> the most common was degree 4.</a:t>
            </a:r>
          </a:p>
          <a:p>
            <a:pPr marL="0" indent="0">
              <a:buNone/>
            </a:pPr>
            <a:endParaRPr lang="en-US" dirty="0"/>
          </a:p>
        </p:txBody>
      </p:sp>
      <p:pic>
        <p:nvPicPr>
          <p:cNvPr id="5" name="Picture 4"/>
          <p:cNvPicPr>
            <a:picLocks noChangeAspect="1"/>
          </p:cNvPicPr>
          <p:nvPr/>
        </p:nvPicPr>
        <p:blipFill>
          <a:blip r:embed="rId2"/>
          <a:stretch>
            <a:fillRect/>
          </a:stretch>
        </p:blipFill>
        <p:spPr>
          <a:xfrm>
            <a:off x="6914147" y="2556932"/>
            <a:ext cx="3818022" cy="3473724"/>
          </a:xfrm>
          <a:prstGeom prst="rect">
            <a:avLst/>
          </a:prstGeom>
        </p:spPr>
      </p:pic>
    </p:spTree>
    <p:extLst>
      <p:ext uri="{BB962C8B-B14F-4D97-AF65-F5344CB8AC3E}">
        <p14:creationId xmlns:p14="http://schemas.microsoft.com/office/powerpoint/2010/main" val="1861782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4: </a:t>
            </a:r>
            <a:r>
              <a:rPr lang="en-US" dirty="0" err="1" smtClean="0"/>
              <a:t>Betweenness</a:t>
            </a:r>
            <a:r>
              <a:rPr lang="en-US" dirty="0" smtClean="0"/>
              <a:t> Centrality</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smtClean="0"/>
              <a:t>This metric measures how many shortest paths</a:t>
            </a:r>
          </a:p>
          <a:p>
            <a:pPr marL="0" indent="0">
              <a:buNone/>
            </a:pPr>
            <a:r>
              <a:rPr lang="en-US" dirty="0" smtClean="0"/>
              <a:t>pass through a node/intersections</a:t>
            </a:r>
          </a:p>
          <a:p>
            <a:pPr marL="0" indent="0">
              <a:buNone/>
            </a:pPr>
            <a:r>
              <a:rPr lang="en-US" dirty="0" smtClean="0"/>
              <a:t>where the node with a high score </a:t>
            </a:r>
          </a:p>
          <a:p>
            <a:pPr marL="0" indent="0">
              <a:buNone/>
            </a:pPr>
            <a:r>
              <a:rPr lang="en-US" dirty="0" smtClean="0"/>
              <a:t>shows a critical bridge in the relationships.</a:t>
            </a:r>
          </a:p>
          <a:p>
            <a:pPr marL="0" indent="0">
              <a:buNone/>
            </a:pPr>
            <a:r>
              <a:rPr lang="en-US" dirty="0" smtClean="0"/>
              <a:t> To identify it we used a K=500 sampling</a:t>
            </a:r>
          </a:p>
          <a:p>
            <a:pPr marL="0" indent="0">
              <a:buNone/>
            </a:pPr>
            <a:r>
              <a:rPr lang="en-US" dirty="0" smtClean="0"/>
              <a:t> to reduce computation time which a gave us a</a:t>
            </a:r>
          </a:p>
          <a:p>
            <a:pPr marL="0" indent="0">
              <a:buNone/>
            </a:pPr>
            <a:r>
              <a:rPr lang="en-US" dirty="0" smtClean="0"/>
              <a:t> result with 85-90% reliable estimate. </a:t>
            </a:r>
          </a:p>
          <a:p>
            <a:pPr marL="0" indent="0">
              <a:buNone/>
            </a:pPr>
            <a:endParaRPr lang="en-US" dirty="0"/>
          </a:p>
        </p:txBody>
      </p:sp>
      <p:pic>
        <p:nvPicPr>
          <p:cNvPr id="4" name="Picture 3"/>
          <p:cNvPicPr>
            <a:picLocks noChangeAspect="1"/>
          </p:cNvPicPr>
          <p:nvPr/>
        </p:nvPicPr>
        <p:blipFill>
          <a:blip r:embed="rId2"/>
          <a:stretch>
            <a:fillRect/>
          </a:stretch>
        </p:blipFill>
        <p:spPr>
          <a:xfrm>
            <a:off x="7368056" y="2556932"/>
            <a:ext cx="3203692" cy="3443636"/>
          </a:xfrm>
          <a:prstGeom prst="rect">
            <a:avLst/>
          </a:prstGeom>
        </p:spPr>
      </p:pic>
    </p:spTree>
    <p:extLst>
      <p:ext uri="{BB962C8B-B14F-4D97-AF65-F5344CB8AC3E}">
        <p14:creationId xmlns:p14="http://schemas.microsoft.com/office/powerpoint/2010/main" val="3657741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5: Dashboard and Visualizations </a:t>
            </a:r>
            <a:endParaRPr lang="en-US" dirty="0"/>
          </a:p>
        </p:txBody>
      </p:sp>
      <p:sp>
        <p:nvSpPr>
          <p:cNvPr id="3" name="Content Placeholder 2"/>
          <p:cNvSpPr>
            <a:spLocks noGrp="1"/>
          </p:cNvSpPr>
          <p:nvPr>
            <p:ph idx="1"/>
          </p:nvPr>
        </p:nvSpPr>
        <p:spPr/>
        <p:txBody>
          <a:bodyPr/>
          <a:lstStyle/>
          <a:p>
            <a:pPr marL="0" indent="0">
              <a:buNone/>
            </a:pPr>
            <a:r>
              <a:rPr lang="en-US" dirty="0" smtClean="0"/>
              <a:t>A </a:t>
            </a:r>
            <a:r>
              <a:rPr lang="en-US" dirty="0" err="1" smtClean="0"/>
              <a:t>plotly</a:t>
            </a:r>
            <a:r>
              <a:rPr lang="en-US" dirty="0" smtClean="0"/>
              <a:t> dashboard was built to visualize key network metrics across five tasks. Three indicator cards displayed the number of interactions, roads and average degree. </a:t>
            </a:r>
            <a:endParaRPr lang="en-US" dirty="0"/>
          </a:p>
        </p:txBody>
      </p:sp>
      <p:pic>
        <p:nvPicPr>
          <p:cNvPr id="4" name="Picture 3"/>
          <p:cNvPicPr>
            <a:picLocks noChangeAspect="1"/>
          </p:cNvPicPr>
          <p:nvPr/>
        </p:nvPicPr>
        <p:blipFill>
          <a:blip r:embed="rId2"/>
          <a:stretch>
            <a:fillRect/>
          </a:stretch>
        </p:blipFill>
        <p:spPr>
          <a:xfrm>
            <a:off x="3304885" y="3407435"/>
            <a:ext cx="5855157" cy="2468433"/>
          </a:xfrm>
          <a:prstGeom prst="rect">
            <a:avLst/>
          </a:prstGeom>
        </p:spPr>
      </p:pic>
    </p:spTree>
    <p:extLst>
      <p:ext uri="{BB962C8B-B14F-4D97-AF65-F5344CB8AC3E}">
        <p14:creationId xmlns:p14="http://schemas.microsoft.com/office/powerpoint/2010/main" val="1869343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6: Degree Distribution Bar Chart</a:t>
            </a:r>
            <a:endParaRPr lang="en-US" dirty="0"/>
          </a:p>
        </p:txBody>
      </p:sp>
      <p:sp>
        <p:nvSpPr>
          <p:cNvPr id="3" name="Content Placeholder 2"/>
          <p:cNvSpPr>
            <a:spLocks noGrp="1"/>
          </p:cNvSpPr>
          <p:nvPr>
            <p:ph idx="1"/>
          </p:nvPr>
        </p:nvSpPr>
        <p:spPr/>
        <p:txBody>
          <a:bodyPr/>
          <a:lstStyle/>
          <a:p>
            <a:pPr marL="0" indent="0">
              <a:buNone/>
            </a:pPr>
            <a:r>
              <a:rPr lang="en-US" dirty="0" smtClean="0"/>
              <a:t>This bar chart shows how many intersections have each degree where the degree 2 is most common which confirms the sparse network nature and </a:t>
            </a:r>
            <a:r>
              <a:rPr lang="en-US" dirty="0" err="1" smtClean="0"/>
              <a:t>dgree</a:t>
            </a:r>
            <a:r>
              <a:rPr lang="en-US" dirty="0" smtClean="0"/>
              <a:t> 5 and 6 nearly invisible. </a:t>
            </a:r>
          </a:p>
          <a:p>
            <a:pPr marL="0" indent="0">
              <a:buNone/>
            </a:pPr>
            <a:endParaRPr lang="en-US" dirty="0"/>
          </a:p>
        </p:txBody>
      </p:sp>
      <p:pic>
        <p:nvPicPr>
          <p:cNvPr id="4" name="Picture 3"/>
          <p:cNvPicPr>
            <a:picLocks noChangeAspect="1"/>
          </p:cNvPicPr>
          <p:nvPr/>
        </p:nvPicPr>
        <p:blipFill>
          <a:blip r:embed="rId2"/>
          <a:stretch>
            <a:fillRect/>
          </a:stretch>
        </p:blipFill>
        <p:spPr>
          <a:xfrm>
            <a:off x="4466834" y="3370025"/>
            <a:ext cx="4292155" cy="2505843"/>
          </a:xfrm>
          <a:prstGeom prst="rect">
            <a:avLst/>
          </a:prstGeom>
        </p:spPr>
      </p:pic>
    </p:spTree>
    <p:extLst>
      <p:ext uri="{BB962C8B-B14F-4D97-AF65-F5344CB8AC3E}">
        <p14:creationId xmlns:p14="http://schemas.microsoft.com/office/powerpoint/2010/main" val="932254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7: Top 10 Most Connected Intersections</a:t>
            </a:r>
            <a:endParaRPr lang="en-US" dirty="0"/>
          </a:p>
        </p:txBody>
      </p:sp>
      <p:sp>
        <p:nvSpPr>
          <p:cNvPr id="3" name="Content Placeholder 2"/>
          <p:cNvSpPr>
            <a:spLocks noGrp="1"/>
          </p:cNvSpPr>
          <p:nvPr>
            <p:ph idx="1"/>
          </p:nvPr>
        </p:nvSpPr>
        <p:spPr/>
        <p:txBody>
          <a:bodyPr/>
          <a:lstStyle/>
          <a:p>
            <a:pPr marL="0" indent="0">
              <a:buNone/>
            </a:pPr>
            <a:r>
              <a:rPr lang="en-US" dirty="0" smtClean="0"/>
              <a:t>The bar chart shows all 10 top intersections sharing the same level of degree of intersections which is 6. where degree 2 and this shows that there was no single hub in the network which is dominant to the others.</a:t>
            </a:r>
          </a:p>
          <a:p>
            <a:pPr marL="0" indent="0">
              <a:buNone/>
            </a:pPr>
            <a:endParaRPr lang="en-US" dirty="0"/>
          </a:p>
        </p:txBody>
      </p:sp>
      <p:pic>
        <p:nvPicPr>
          <p:cNvPr id="4" name="Picture 3"/>
          <p:cNvPicPr>
            <a:picLocks noChangeAspect="1"/>
          </p:cNvPicPr>
          <p:nvPr/>
        </p:nvPicPr>
        <p:blipFill>
          <a:blip r:embed="rId2"/>
          <a:stretch>
            <a:fillRect/>
          </a:stretch>
        </p:blipFill>
        <p:spPr>
          <a:xfrm>
            <a:off x="4427621" y="3734460"/>
            <a:ext cx="4299284" cy="2407475"/>
          </a:xfrm>
          <a:prstGeom prst="rect">
            <a:avLst/>
          </a:prstGeom>
        </p:spPr>
      </p:pic>
    </p:spTree>
    <p:extLst>
      <p:ext uri="{BB962C8B-B14F-4D97-AF65-F5344CB8AC3E}">
        <p14:creationId xmlns:p14="http://schemas.microsoft.com/office/powerpoint/2010/main" val="1265334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8: Intersection Categories Pie Chart</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The pie chart shows the categories of</a:t>
            </a:r>
          </a:p>
          <a:p>
            <a:pPr marL="0" indent="0">
              <a:buNone/>
            </a:pPr>
            <a:r>
              <a:rPr lang="en-US" dirty="0" smtClean="0"/>
              <a:t>intersection categorized into three</a:t>
            </a:r>
          </a:p>
          <a:p>
            <a:pPr marL="0" indent="0">
              <a:buNone/>
            </a:pPr>
            <a:r>
              <a:rPr lang="en-US" dirty="0" smtClean="0"/>
              <a:t>categories form low consisting of</a:t>
            </a:r>
          </a:p>
          <a:p>
            <a:pPr marL="0" indent="0">
              <a:buNone/>
            </a:pPr>
            <a:r>
              <a:rPr lang="en-US" dirty="0" smtClean="0"/>
              <a:t>1 to 2 roads showed by 43%, </a:t>
            </a:r>
          </a:p>
          <a:p>
            <a:pPr marL="0" indent="0">
              <a:buNone/>
            </a:pPr>
            <a:r>
              <a:rPr lang="en-US" dirty="0" smtClean="0"/>
              <a:t>Medium consisting of 3 to roads </a:t>
            </a:r>
          </a:p>
          <a:p>
            <a:pPr marL="0" indent="0">
              <a:buNone/>
            </a:pPr>
            <a:r>
              <a:rPr lang="en-US" dirty="0" smtClean="0"/>
              <a:t>showed by 56.6% to High consisting </a:t>
            </a:r>
          </a:p>
          <a:p>
            <a:pPr marL="0" indent="0">
              <a:buNone/>
            </a:pPr>
            <a:r>
              <a:rPr lang="en-US" dirty="0" smtClean="0"/>
              <a:t>5+ roads showed by 0.3% showing </a:t>
            </a:r>
          </a:p>
          <a:p>
            <a:pPr marL="0" indent="0">
              <a:buNone/>
            </a:pPr>
            <a:r>
              <a:rPr lang="en-US" dirty="0" smtClean="0"/>
              <a:t>99.7% of all intersections are</a:t>
            </a:r>
          </a:p>
          <a:p>
            <a:pPr marL="0" indent="0">
              <a:buNone/>
            </a:pPr>
            <a:r>
              <a:rPr lang="en-US" dirty="0" smtClean="0"/>
              <a:t> simple confirming sparse network.</a:t>
            </a:r>
            <a:endParaRPr lang="en-US" dirty="0"/>
          </a:p>
        </p:txBody>
      </p:sp>
      <p:pic>
        <p:nvPicPr>
          <p:cNvPr id="4" name="Picture 3"/>
          <p:cNvPicPr>
            <a:picLocks noChangeAspect="1"/>
          </p:cNvPicPr>
          <p:nvPr/>
        </p:nvPicPr>
        <p:blipFill>
          <a:blip r:embed="rId2"/>
          <a:stretch>
            <a:fillRect/>
          </a:stretch>
        </p:blipFill>
        <p:spPr>
          <a:xfrm>
            <a:off x="5036066" y="2727103"/>
            <a:ext cx="5988587" cy="2978593"/>
          </a:xfrm>
          <a:prstGeom prst="rect">
            <a:avLst/>
          </a:prstGeom>
        </p:spPr>
      </p:pic>
    </p:spTree>
    <p:extLst>
      <p:ext uri="{BB962C8B-B14F-4D97-AF65-F5344CB8AC3E}">
        <p14:creationId xmlns:p14="http://schemas.microsoft.com/office/powerpoint/2010/main" val="334546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pPr marL="0" indent="0">
              <a:buNone/>
            </a:pPr>
            <a:r>
              <a:rPr lang="en-US" dirty="0"/>
              <a:t>This analysis demonstrates that Neo4j is a powerful and efficient tool for large-scale road network analysis, providing insights that would be computationally impractical with traditional relational databases</a:t>
            </a:r>
            <a:r>
              <a:rPr lang="en-US" dirty="0" smtClean="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8260893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114</TotalTime>
  <Words>975</Words>
  <Application>Microsoft Office PowerPoint</Application>
  <PresentationFormat>Widescreen</PresentationFormat>
  <Paragraphs>58</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Garamond</vt:lpstr>
      <vt:lpstr>Organic</vt:lpstr>
      <vt:lpstr>Hands-on Neo4j: US Road Network Analysis</vt:lpstr>
      <vt:lpstr>Group Members</vt:lpstr>
      <vt:lpstr>Introduction</vt:lpstr>
      <vt:lpstr>Dataset Description</vt:lpstr>
      <vt:lpstr>Tools and Environment</vt:lpstr>
      <vt:lpstr>Data Loading Process</vt:lpstr>
      <vt:lpstr>Task 1: Network Overview</vt:lpstr>
      <vt:lpstr>Task 2: Shortest Path</vt:lpstr>
      <vt:lpstr>Task 3: High Degree Intersections</vt:lpstr>
      <vt:lpstr>Task 4: Betweenness Centrality</vt:lpstr>
      <vt:lpstr>Task 5: Dashboard and Visualizations </vt:lpstr>
      <vt:lpstr>Task 6: Degree Distribution Bar Chart</vt:lpstr>
      <vt:lpstr>Task 7: Top 10 Most Connected Intersections</vt:lpstr>
      <vt:lpstr>Task 8: Intersection Categories Pie Chart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Hands-on Neo4j: US Road Network Analysis</dc:title>
  <dc:creator>user</dc:creator>
  <cp:lastModifiedBy>user</cp:lastModifiedBy>
  <cp:revision>14</cp:revision>
  <dcterms:created xsi:type="dcterms:W3CDTF">2026-06-12T14:55:54Z</dcterms:created>
  <dcterms:modified xsi:type="dcterms:W3CDTF">2026-06-12T16:50:13Z</dcterms:modified>
</cp:coreProperties>
</file>